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7a4824e-40df-f49b-1199-f3852d5537a3}">
          <p14:sldIdLst>
            <p14:sldId id="256"/>
          </p14:sldIdLst>
        </p14:section>
        <p14:section name="Scope" id="{a6425c7b-edda-44ad-cce8-6f9a366fad25}">
          <p14:sldIdLst>
            <p14:sldId id="257"/>
          </p14:sldIdLst>
        </p14:section>
        <p14:section name="Demo" id="{db3bde08-0924-99af-b6ef-f4421582041e}">
          <p14:sldIdLst>
            <p14:sldId id="258"/>
          </p14:sldIdLst>
        </p14:section>
        <p14:section name="Next" id="{0541b961-8f70-3470-6f07-71a4a4db0192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— about 60 seconds.
"Thank you for the Master Plan and the twelve locked standards. I read all of them, and then I did the thing they were written for: I built it.
What is behind me is running software, not a mock-up. It is served from my laptop and I will drive it live in a moment.
The one-line version, and I would use this one with an investor: Morning Box is not a food-delivery marketplace. It is a personal breakfast assistant. A customer answers three short questions — how they eat, what they enjoy, and anything they must avoid — and Morning Box returns one confident, complete breakfast, produced fresh by an approved DIFC bakery and delivered inside the window they picked.
Three numbers to anchor it. Thirty-two approved base recommendations. Thirty-five approved components, each with an allergen record. Twelve locked standards governing all of it.
And one framing I want to put down early, because it shapes everything you are about to see: the engine is deterministic. Same inputs, same recommendation, every time. That is MB-REC-001 section 1.4, and it is a stronger claim than 'we used AI' — because we can show you exactly why it chose what it chose."
[Move to slide 2.]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— about 75 seconds. This answers the question someone in the room is already thinking.
"Before the demo I want to settle one thing: when the Master Plan says 'MVP', does it mean a presentation, a design, or a product?
It means a product, and that is your document, not my opinion.
Section eight names six things to build — a customer web app, the recommendation engine, admin and operations, a bakery view, delivery coordination and a data layer.
Section eight-point-one lists the required customer screens in order, from Landing through to Feedback. That is a build list.
And section twelve makes 'technical build, core functional QA passed' phase C of the roadmap — with section eighteen turning it into a launch gate. You cannot pass functional QA on a deck.
Your Master Plan also names what comes immediately after it: a screen-by-screen UX and functional specification. I have written that too — it is document three in the pack — and the demo you are about to see is the thing it describes.
On the right: the whole journey, built. Personal and business, plus the operations console that runs the night-before cycle. Ten flows, zero console errors on a full click-through."
[Move to slide 3, then switch to the live app.]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— about 2 minutes here, then SWITCH TO THE LIVE APP.
"This is the heart of it, so I want to be precise.
The engine runs four stages: understand, filter, match, recommend. Safety and dietary filtering happen before any preference matching — that ordering is in the standard and it is not negotiable.
Four rules make it defensible in front of a customer, a bakery or a regulator.
One: same inputs, same recommendation. It is deterministic. Ask it the same question twice and you get the same answer, and we can show you the decision trace.
Two: if a component is unsafe for you, the engine looks for an approved substitute inside the Morning Box library — never the bakery's general menu. If there isn't one, the whole breakfast leaves the pool.
Three: picking several preferences widens the pool; it never blends savory and sweet into one strange box.
Four, and this is the one most products get wrong: no eligible match is better than a forced one. If nothing is safe, it says so and offers to review your inputs. It does not quietly relax your allergy to fill the screen.
Let me show you."
[SWITCH TO THE LIVE APP — at phone width. Five minutes:
 1. Create My Morning → Health-Conscious
 2. Savory + Fresh &amp; Wholesome — "multi-select widens the pool"
 3. Peanut allergy — "a hard filter, applied before anything is recommended"
 4. Pick two dates — "exact dates, 9 PM cutoff"
 5. Relaxed Morning
 6. The box appears — tap a compartment, show the allergen record
 7. Point at the substitution notice if one fired
 8. Swap the bread — "only eligible alternatives, price does not move"
 9. Size → Large — "quantity, not composition"
10. Save → day two offers "Same as yesterday" — an independent copy
11. Summary → register → delivery window → pay
12. Orders — "Prepared by the bakery. Free cancellation until 9 PM"
13. Business: 35 people, add Vegan + Tree nut × 3 — it cannot be matched
14. Operations: run the cutoff, show Production vs Packing view, try Ready before QC
Then come back to slide 4.]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about 90 seconds. This is the slide that earns the next meeting.
"So, where are we.
On the left: what works today. All ten flows. The real engine over all thirty-two base recommendations. Allergen filtering with approved substitution. The nine PM cutoff, the refund rules, proof of delivery. Proximity-first bakery allocation with eligibility filtering. And the operations console: production view, packing view, the QC gate and the exception queue.
In the middle: what I would do next, in order. And notice what is first — it is not code.
Because on the right is the thing I most need to tell you.
I ran every dietary requirement against all thirty-two approved base recommendations. No restrictions: thirty-two of thirty-two. Peanut allergy: thirty-two — your library handles that well. Vegetarian: twenty-eight. Dairy allergy: twelve. Vegan: eight.
Gluten-free: zero. Not one. A coeliac customer cannot be served a single approved Morning Box.
And this is not a bug in my engine. MB-BOX-001 section nine names Gluten-Free as a supported requirement and says a bakery must be specifically eligible to handle it. But the Core Item Library contains only wheat breads, and all three approved grains — oats, granola and muesli — carry gluten. There is no gluten-free product of any kind in the approved library. The engine refuses to invent one from outside, exactly as the standard tells it to, so it returns the no-match message.
You only find that by executing the standards, not by reading them.
There are three ways to resolve it. Add a gluten-free bread and grain to the Core Library. Or declare gluten-free out of MVP scope and take it off the profile question. Or keep it, and accept that those customers always get a no-match. Only the first matches what MB-BOX-001 currently promises.
The same shape of question applies, less severely, to vegan at eight and dairy-free at nine — there is no plant yogurt and no vegan pastry in the library.
That is the decision I need. Everything else on this slide I can get on with.
I found fourteen gaps like this in total — all written up with the decision I took and why. Happy to take questions, or go back into the app and break it however you like."
[End. Offer the laptop.]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2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81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 Box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6208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MVP build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087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9D8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475488"/>
            <a:ext cx="1097280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6181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 Box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087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087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9D8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9436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chemeClr val="accent1"/>
                </a:solidFill>
              </a:rPr>
              <a:t>MORNING BOX · MVP BUILD REVIEW</a:t>
            </a:r>
            <a:endParaRPr lang="en-US" sz="1100" dirty="0"/>
          </a:p>
        </p:txBody>
      </p:sp>
      <p:sp>
        <p:nvSpPr>
          <p:cNvPr id="3" name="headline"/>
          <p:cNvSpPr txBox="1"/>
          <p:nvPr/>
        </p:nvSpPr>
        <p:spPr>
          <a:xfrm>
            <a:off x="594360" y="1078992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breakfast day,
</a:t>
            </a:r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D99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way.</a:t>
            </a:r>
            <a:endParaRPr lang="en-US" sz="4200" dirty="0"/>
          </a:p>
        </p:txBody>
      </p:sp>
      <p:sp>
        <p:nvSpPr>
          <p:cNvPr id="4" name="standfirst"/>
          <p:cNvSpPr txBox="1"/>
          <p:nvPr/>
        </p:nvSpPr>
        <p:spPr>
          <a:xfrm>
            <a:off x="594360" y="2980944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9CDBC"/>
                </a:solidFill>
              </a:rPr>
              <a:t>Not a food marketplace — a personal breakfast assistant. Three questions, one confident recommendation, produced fresh by an approved DIFC bakery and delivered in the window the customer chose.</a:t>
            </a:r>
            <a:endParaRPr lang="en-US" sz="1450" dirty="0"/>
          </a:p>
        </p:txBody>
      </p:sp>
      <p:sp>
        <p:nvSpPr>
          <p:cNvPr id="5" name="sv0"/>
          <p:cNvSpPr txBox="1"/>
          <p:nvPr/>
        </p:nvSpPr>
        <p:spPr>
          <a:xfrm>
            <a:off x="594360" y="4498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6" name="sl0"/>
          <p:cNvSpPr txBox="1"/>
          <p:nvPr/>
        </p:nvSpPr>
        <p:spPr>
          <a:xfrm>
            <a:off x="594360" y="50840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A997"/>
                </a:solidFill>
              </a:rPr>
              <a:t>base recommendations</a:t>
            </a:r>
            <a:endParaRPr lang="en-US" sz="1100" dirty="0"/>
          </a:p>
        </p:txBody>
      </p:sp>
      <p:sp>
        <p:nvSpPr>
          <p:cNvPr id="7" name="sv1"/>
          <p:cNvSpPr txBox="1"/>
          <p:nvPr/>
        </p:nvSpPr>
        <p:spPr>
          <a:xfrm>
            <a:off x="2468880" y="4498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400" dirty="0"/>
          </a:p>
        </p:txBody>
      </p:sp>
      <p:sp>
        <p:nvSpPr>
          <p:cNvPr id="8" name="sl1"/>
          <p:cNvSpPr txBox="1"/>
          <p:nvPr/>
        </p:nvSpPr>
        <p:spPr>
          <a:xfrm>
            <a:off x="2468880" y="50840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A997"/>
                </a:solidFill>
              </a:rPr>
              <a:t>approved components</a:t>
            </a:r>
            <a:endParaRPr lang="en-US" sz="1100" dirty="0"/>
          </a:p>
        </p:txBody>
      </p:sp>
      <p:sp>
        <p:nvSpPr>
          <p:cNvPr id="9" name="sv2"/>
          <p:cNvSpPr txBox="1"/>
          <p:nvPr/>
        </p:nvSpPr>
        <p:spPr>
          <a:xfrm>
            <a:off x="4343400" y="4498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0" name="sl2"/>
          <p:cNvSpPr txBox="1"/>
          <p:nvPr/>
        </p:nvSpPr>
        <p:spPr>
          <a:xfrm>
            <a:off x="4343400" y="50840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A997"/>
                </a:solidFill>
              </a:rPr>
              <a:t>locked standards</a:t>
            </a:r>
            <a:endParaRPr lang="en-US" sz="1100" dirty="0"/>
          </a:p>
        </p:txBody>
      </p:sp>
      <p:pic>
        <p:nvPicPr>
          <p:cNvPr id="11" name="shot-home" descr="/private/tmp/claude-501/-Users-rahul-Downloads-likhi-project/ea0c8839-4a20-41b7-85fb-79fe571d1a4f/scratchpad/mbdeck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41248"/>
            <a:ext cx="5212080" cy="2852928"/>
          </a:xfrm>
          <a:prstGeom prst="rect">
            <a:avLst/>
          </a:prstGeom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pic>
      <p:pic>
        <p:nvPicPr>
          <p:cNvPr id="12" name="shot-box" descr="/private/tmp/claude-501/-Users-rahul-Downloads-likhi-project/ea0c8839-4a20-41b7-85fb-79fe571d1a4f/scratchpad/mbdeck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487168"/>
            <a:ext cx="1481328" cy="3209544"/>
          </a:xfrm>
          <a:prstGeom prst="rect">
            <a:avLst/>
          </a:prstGeom>
          <a:effectLst>
            <a:outerShdw sx="100000" sy="100000" kx="0" ky="0" algn="bl" rotWithShape="0" blurRad="279400" dist="76200" dir="5400000">
              <a:srgbClr val="000000">
                <a:alpha val="50000"/>
              </a:srgbClr>
            </a:outerShdw>
          </a:effectLst>
        </p:spPr>
      </p:pic>
      <p:sp>
        <p:nvSpPr>
          <p:cNvPr id="13" name="cap1"/>
          <p:cNvSpPr txBox="1"/>
          <p:nvPr/>
        </p:nvSpPr>
        <p:spPr>
          <a:xfrm>
            <a:off x="6492240" y="579729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Running today, mobile-first, from a laptop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087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9D8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475488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“MVP” means a working product — not a deck</a:t>
            </a:r>
            <a:endParaRPr lang="en-US" sz="3400" dirty="0"/>
          </a:p>
        </p:txBody>
      </p:sp>
      <p:sp>
        <p:nvSpPr>
          <p:cNvPr id="3" name="sub2"/>
          <p:cNvSpPr txBox="1"/>
          <p:nvPr/>
        </p:nvSpPr>
        <p:spPr>
          <a:xfrm>
            <a:off x="594360" y="12618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Settled by your own Master Plan, not by preference.</a:t>
            </a:r>
            <a:endParaRPr lang="en-US" sz="1400" dirty="0"/>
          </a:p>
        </p:txBody>
      </p:sp>
      <p:sp>
        <p:nvSpPr>
          <p:cNvPr id="4" name="card0"/>
          <p:cNvSpPr/>
          <p:nvPr/>
        </p:nvSpPr>
        <p:spPr>
          <a:xfrm>
            <a:off x="594360" y="1810512"/>
            <a:ext cx="54864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E9D8BD"/>
            </a:solidFill>
            <a:prstDash val="solid"/>
          </a:ln>
        </p:spPr>
      </p:sp>
      <p:sp>
        <p:nvSpPr>
          <p:cNvPr id="5" name="tag0"/>
          <p:cNvSpPr/>
          <p:nvPr/>
        </p:nvSpPr>
        <p:spPr>
          <a:xfrm>
            <a:off x="841248" y="2084832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D99A12"/>
          </a:solidFill>
          <a:ln/>
        </p:spPr>
      </p:sp>
      <p:sp>
        <p:nvSpPr>
          <p:cNvPr id="6" name="tagt0"/>
          <p:cNvSpPr txBox="1"/>
          <p:nvPr/>
        </p:nvSpPr>
        <p:spPr>
          <a:xfrm>
            <a:off x="841248" y="208483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§8</a:t>
            </a:r>
            <a:endParaRPr lang="en-US" sz="1200" dirty="0"/>
          </a:p>
        </p:txBody>
      </p:sp>
      <p:sp>
        <p:nvSpPr>
          <p:cNvPr id="7" name="cb0"/>
          <p:cNvSpPr txBox="1"/>
          <p:nvPr/>
        </p:nvSpPr>
        <p:spPr>
          <a:xfrm>
            <a:off x="1700784" y="19933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Names six surfaces to build: Customer Web/PWA, Recommendation Engine, Admin/Operations, Bakery View, Delivery Coordination, Data Layer.</a:t>
            </a:r>
            <a:endParaRPr lang="en-US" sz="1150" dirty="0"/>
          </a:p>
        </p:txBody>
      </p:sp>
      <p:sp>
        <p:nvSpPr>
          <p:cNvPr id="8" name="card1"/>
          <p:cNvSpPr/>
          <p:nvPr/>
        </p:nvSpPr>
        <p:spPr>
          <a:xfrm>
            <a:off x="594360" y="3026664"/>
            <a:ext cx="54864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E9D8BD"/>
            </a:solidFill>
            <a:prstDash val="solid"/>
          </a:ln>
        </p:spPr>
      </p:sp>
      <p:sp>
        <p:nvSpPr>
          <p:cNvPr id="9" name="tag1"/>
          <p:cNvSpPr/>
          <p:nvPr/>
        </p:nvSpPr>
        <p:spPr>
          <a:xfrm>
            <a:off x="841248" y="3300984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D99A12"/>
          </a:solidFill>
          <a:ln/>
        </p:spPr>
      </p:sp>
      <p:sp>
        <p:nvSpPr>
          <p:cNvPr id="10" name="tagt1"/>
          <p:cNvSpPr txBox="1"/>
          <p:nvPr/>
        </p:nvSpPr>
        <p:spPr>
          <a:xfrm>
            <a:off x="841248" y="330098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§8.1</a:t>
            </a:r>
            <a:endParaRPr lang="en-US" sz="1200" dirty="0"/>
          </a:p>
        </p:txBody>
      </p:sp>
      <p:sp>
        <p:nvSpPr>
          <p:cNvPr id="11" name="cb1"/>
          <p:cNvSpPr txBox="1"/>
          <p:nvPr/>
        </p:nvSpPr>
        <p:spPr>
          <a:xfrm>
            <a:off x="1700784" y="32095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Lists the required customer screens in order, from Landing through to Feedback.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94360" y="4242816"/>
            <a:ext cx="54864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E9D8BD"/>
            </a:solidFill>
            <a:prstDash val="solid"/>
          </a:ln>
        </p:spPr>
      </p:sp>
      <p:sp>
        <p:nvSpPr>
          <p:cNvPr id="13" name="tag2"/>
          <p:cNvSpPr/>
          <p:nvPr/>
        </p:nvSpPr>
        <p:spPr>
          <a:xfrm>
            <a:off x="841248" y="4517136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D99A12"/>
          </a:solidFill>
          <a:ln/>
        </p:spPr>
      </p:sp>
      <p:sp>
        <p:nvSpPr>
          <p:cNvPr id="14" name="tagt2"/>
          <p:cNvSpPr txBox="1"/>
          <p:nvPr/>
        </p:nvSpPr>
        <p:spPr>
          <a:xfrm>
            <a:off x="841248" y="451713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§12 / §18</a:t>
            </a:r>
            <a:endParaRPr lang="en-US" sz="1200" dirty="0"/>
          </a:p>
        </p:txBody>
      </p:sp>
      <p:sp>
        <p:nvSpPr>
          <p:cNvPr id="15" name="cb2"/>
          <p:cNvSpPr txBox="1"/>
          <p:nvPr/>
        </p:nvSpPr>
        <p:spPr>
          <a:xfrm>
            <a:off x="1700784" y="442569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Roadmap phase C is “Technical build — core functional QA passed”, and it is a launch gate.</a:t>
            </a:r>
            <a:endParaRPr lang="en-US" sz="1150" dirty="0"/>
          </a:p>
        </p:txBody>
      </p:sp>
      <p:sp>
        <p:nvSpPr>
          <p:cNvPr id="16" name="journey"/>
          <p:cNvSpPr/>
          <p:nvPr/>
        </p:nvSpPr>
        <p:spPr>
          <a:xfrm>
            <a:off x="6492240" y="1810512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3B2D22"/>
          </a:solidFill>
          <a:ln/>
        </p:spPr>
      </p:sp>
      <p:sp>
        <p:nvSpPr>
          <p:cNvPr id="17" name="jh"/>
          <p:cNvSpPr txBox="1"/>
          <p:nvPr/>
        </p:nvSpPr>
        <p:spPr>
          <a:xfrm>
            <a:off x="681228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chemeClr val="accent1"/>
                </a:solidFill>
              </a:rPr>
              <a:t>THE JOURNEY, BUILT END TO END</a:t>
            </a:r>
            <a:endParaRPr lang="en-US" sz="1000" dirty="0"/>
          </a:p>
        </p:txBody>
      </p:sp>
      <p:sp>
        <p:nvSpPr>
          <p:cNvPr id="18" name="jd0"/>
          <p:cNvSpPr/>
          <p:nvPr/>
        </p:nvSpPr>
        <p:spPr>
          <a:xfrm>
            <a:off x="6812280" y="241401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19" name="jn0"/>
          <p:cNvSpPr txBox="1"/>
          <p:nvPr/>
        </p:nvSpPr>
        <p:spPr>
          <a:xfrm>
            <a:off x="681228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1</a:t>
            </a:r>
            <a:endParaRPr lang="en-US" sz="950" dirty="0"/>
          </a:p>
        </p:txBody>
      </p:sp>
      <p:sp>
        <p:nvSpPr>
          <p:cNvPr id="20" name="jt0"/>
          <p:cNvSpPr txBox="1"/>
          <p:nvPr/>
        </p:nvSpPr>
        <p:spPr>
          <a:xfrm>
            <a:off x="7196328" y="238658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Three profile questions</a:t>
            </a:r>
            <a:endParaRPr lang="en-US" sz="1050" dirty="0"/>
          </a:p>
        </p:txBody>
      </p:sp>
      <p:sp>
        <p:nvSpPr>
          <p:cNvPr id="21" name="jd1"/>
          <p:cNvSpPr/>
          <p:nvPr/>
        </p:nvSpPr>
        <p:spPr>
          <a:xfrm>
            <a:off x="9189720" y="241401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22" name="jn1"/>
          <p:cNvSpPr txBox="1"/>
          <p:nvPr/>
        </p:nvSpPr>
        <p:spPr>
          <a:xfrm>
            <a:off x="918972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2</a:t>
            </a:r>
            <a:endParaRPr lang="en-US" sz="950" dirty="0"/>
          </a:p>
        </p:txBody>
      </p:sp>
      <p:sp>
        <p:nvSpPr>
          <p:cNvPr id="23" name="jt1"/>
          <p:cNvSpPr txBox="1"/>
          <p:nvPr/>
        </p:nvSpPr>
        <p:spPr>
          <a:xfrm>
            <a:off x="9573768" y="238658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Choose your mornings</a:t>
            </a:r>
            <a:endParaRPr lang="en-US" sz="1050" dirty="0"/>
          </a:p>
        </p:txBody>
      </p:sp>
      <p:sp>
        <p:nvSpPr>
          <p:cNvPr id="24" name="jd2"/>
          <p:cNvSpPr/>
          <p:nvPr/>
        </p:nvSpPr>
        <p:spPr>
          <a:xfrm>
            <a:off x="6812280" y="305409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25" name="jn2"/>
          <p:cNvSpPr txBox="1"/>
          <p:nvPr/>
        </p:nvSpPr>
        <p:spPr>
          <a:xfrm>
            <a:off x="681228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3</a:t>
            </a:r>
            <a:endParaRPr lang="en-US" sz="950" dirty="0"/>
          </a:p>
        </p:txBody>
      </p:sp>
      <p:sp>
        <p:nvSpPr>
          <p:cNvPr id="26" name="jt2"/>
          <p:cNvSpPr txBox="1"/>
          <p:nvPr/>
        </p:nvSpPr>
        <p:spPr>
          <a:xfrm>
            <a:off x="7196328" y="302666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Daily context, per day</a:t>
            </a:r>
            <a:endParaRPr lang="en-US" sz="1050" dirty="0"/>
          </a:p>
        </p:txBody>
      </p:sp>
      <p:sp>
        <p:nvSpPr>
          <p:cNvPr id="27" name="jd3"/>
          <p:cNvSpPr/>
          <p:nvPr/>
        </p:nvSpPr>
        <p:spPr>
          <a:xfrm>
            <a:off x="9189720" y="305409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28" name="jn3"/>
          <p:cNvSpPr txBox="1"/>
          <p:nvPr/>
        </p:nvSpPr>
        <p:spPr>
          <a:xfrm>
            <a:off x="918972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4</a:t>
            </a:r>
            <a:endParaRPr lang="en-US" sz="950" dirty="0"/>
          </a:p>
        </p:txBody>
      </p:sp>
      <p:sp>
        <p:nvSpPr>
          <p:cNvPr id="29" name="jt3"/>
          <p:cNvSpPr txBox="1"/>
          <p:nvPr/>
        </p:nvSpPr>
        <p:spPr>
          <a:xfrm>
            <a:off x="9573768" y="302666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Your Morning Box + alternative</a:t>
            </a:r>
            <a:endParaRPr lang="en-US" sz="1050" dirty="0"/>
          </a:p>
        </p:txBody>
      </p:sp>
      <p:sp>
        <p:nvSpPr>
          <p:cNvPr id="30" name="jd4"/>
          <p:cNvSpPr/>
          <p:nvPr/>
        </p:nvSpPr>
        <p:spPr>
          <a:xfrm>
            <a:off x="6812280" y="369417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31" name="jn4"/>
          <p:cNvSpPr txBox="1"/>
          <p:nvPr/>
        </p:nvSpPr>
        <p:spPr>
          <a:xfrm>
            <a:off x="6812280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5</a:t>
            </a:r>
            <a:endParaRPr lang="en-US" sz="950" dirty="0"/>
          </a:p>
        </p:txBody>
      </p:sp>
      <p:sp>
        <p:nvSpPr>
          <p:cNvPr id="32" name="jt4"/>
          <p:cNvSpPr txBox="1"/>
          <p:nvPr/>
        </p:nvSpPr>
        <p:spPr>
          <a:xfrm>
            <a:off x="7196328" y="366674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Swap · Size · Add-ons</a:t>
            </a:r>
            <a:endParaRPr lang="en-US" sz="1050" dirty="0"/>
          </a:p>
        </p:txBody>
      </p:sp>
      <p:sp>
        <p:nvSpPr>
          <p:cNvPr id="33" name="jd5"/>
          <p:cNvSpPr/>
          <p:nvPr/>
        </p:nvSpPr>
        <p:spPr>
          <a:xfrm>
            <a:off x="9189720" y="369417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34" name="jn5"/>
          <p:cNvSpPr txBox="1"/>
          <p:nvPr/>
        </p:nvSpPr>
        <p:spPr>
          <a:xfrm>
            <a:off x="9189720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6</a:t>
            </a:r>
            <a:endParaRPr lang="en-US" sz="950" dirty="0"/>
          </a:p>
        </p:txBody>
      </p:sp>
      <p:sp>
        <p:nvSpPr>
          <p:cNvPr id="35" name="jt5"/>
          <p:cNvSpPr txBox="1"/>
          <p:nvPr/>
        </p:nvSpPr>
        <p:spPr>
          <a:xfrm>
            <a:off x="9573768" y="366674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Weekly summary, then sign up</a:t>
            </a:r>
            <a:endParaRPr lang="en-US" sz="1050" dirty="0"/>
          </a:p>
        </p:txBody>
      </p:sp>
      <p:sp>
        <p:nvSpPr>
          <p:cNvPr id="36" name="jd6"/>
          <p:cNvSpPr/>
          <p:nvPr/>
        </p:nvSpPr>
        <p:spPr>
          <a:xfrm>
            <a:off x="6812280" y="433425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37" name="jn6"/>
          <p:cNvSpPr txBox="1"/>
          <p:nvPr/>
        </p:nvSpPr>
        <p:spPr>
          <a:xfrm>
            <a:off x="681228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7</a:t>
            </a:r>
            <a:endParaRPr lang="en-US" sz="950" dirty="0"/>
          </a:p>
        </p:txBody>
      </p:sp>
      <p:sp>
        <p:nvSpPr>
          <p:cNvPr id="38" name="jt6"/>
          <p:cNvSpPr txBox="1"/>
          <p:nvPr/>
        </p:nvSpPr>
        <p:spPr>
          <a:xfrm>
            <a:off x="7196328" y="43068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Delivery window, then pay</a:t>
            </a:r>
            <a:endParaRPr lang="en-US" sz="1050" dirty="0"/>
          </a:p>
        </p:txBody>
      </p:sp>
      <p:sp>
        <p:nvSpPr>
          <p:cNvPr id="39" name="jd7"/>
          <p:cNvSpPr/>
          <p:nvPr/>
        </p:nvSpPr>
        <p:spPr>
          <a:xfrm>
            <a:off x="9189720" y="433425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40" name="jn7"/>
          <p:cNvSpPr txBox="1"/>
          <p:nvPr/>
        </p:nvSpPr>
        <p:spPr>
          <a:xfrm>
            <a:off x="918972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8</a:t>
            </a:r>
            <a:endParaRPr lang="en-US" sz="950" dirty="0"/>
          </a:p>
        </p:txBody>
      </p:sp>
      <p:sp>
        <p:nvSpPr>
          <p:cNvPr id="41" name="jt7"/>
          <p:cNvSpPr txBox="1"/>
          <p:nvPr/>
        </p:nvSpPr>
        <p:spPr>
          <a:xfrm>
            <a:off x="9573768" y="43068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Orders, cancel, feedback</a:t>
            </a:r>
            <a:endParaRPr lang="en-US" sz="1050" dirty="0"/>
          </a:p>
        </p:txBody>
      </p:sp>
      <p:sp>
        <p:nvSpPr>
          <p:cNvPr id="42" name="jd8"/>
          <p:cNvSpPr/>
          <p:nvPr/>
        </p:nvSpPr>
        <p:spPr>
          <a:xfrm>
            <a:off x="6812280" y="497433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43" name="jn8"/>
          <p:cNvSpPr txBox="1"/>
          <p:nvPr/>
        </p:nvSpPr>
        <p:spPr>
          <a:xfrm>
            <a:off x="681228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9</a:t>
            </a:r>
            <a:endParaRPr lang="en-US" sz="950" dirty="0"/>
          </a:p>
        </p:txBody>
      </p:sp>
      <p:sp>
        <p:nvSpPr>
          <p:cNvPr id="44" name="jt8"/>
          <p:cNvSpPr txBox="1"/>
          <p:nvPr/>
        </p:nvSpPr>
        <p:spPr>
          <a:xfrm>
            <a:off x="7196328" y="494690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Business Breakfast, 6 steps</a:t>
            </a:r>
            <a:endParaRPr lang="en-US" sz="1050" dirty="0"/>
          </a:p>
        </p:txBody>
      </p:sp>
      <p:sp>
        <p:nvSpPr>
          <p:cNvPr id="45" name="jd9"/>
          <p:cNvSpPr/>
          <p:nvPr/>
        </p:nvSpPr>
        <p:spPr>
          <a:xfrm>
            <a:off x="9189720" y="4974336"/>
            <a:ext cx="310896" cy="310896"/>
          </a:xfrm>
          <a:prstGeom prst="ellipse">
            <a:avLst/>
          </a:prstGeom>
          <a:solidFill>
            <a:srgbClr val="D99A12"/>
          </a:solidFill>
          <a:ln/>
        </p:spPr>
      </p:sp>
      <p:sp>
        <p:nvSpPr>
          <p:cNvPr id="46" name="jn9"/>
          <p:cNvSpPr txBox="1"/>
          <p:nvPr/>
        </p:nvSpPr>
        <p:spPr>
          <a:xfrm>
            <a:off x="918972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D22"/>
                </a:solidFill>
              </a:rPr>
              <a:t>10</a:t>
            </a:r>
            <a:endParaRPr lang="en-US" sz="950" dirty="0"/>
          </a:p>
        </p:txBody>
      </p:sp>
      <p:sp>
        <p:nvSpPr>
          <p:cNvPr id="47" name="jt9"/>
          <p:cNvSpPr txBox="1"/>
          <p:nvPr/>
        </p:nvSpPr>
        <p:spPr>
          <a:xfrm>
            <a:off x="9573768" y="494690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4DACB"/>
                </a:solidFill>
              </a:rPr>
              <a:t>Operations: cutoff to reconciliation</a:t>
            </a:r>
            <a:endParaRPr lang="en-US" sz="1050" dirty="0"/>
          </a:p>
        </p:txBody>
      </p:sp>
      <p:sp>
        <p:nvSpPr>
          <p:cNvPr id="48" name="jf"/>
          <p:cNvSpPr txBox="1"/>
          <p:nvPr/>
        </p:nvSpPr>
        <p:spPr>
          <a:xfrm>
            <a:off x="6812280" y="5358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1"/>
                </a:solidFill>
              </a:rPr>
              <a:t>Zero console errors across a full click-through of all ten.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087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475488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first, then preference — and never a forced result</a:t>
            </a:r>
            <a:endParaRPr lang="en-US" sz="3400" dirty="0"/>
          </a:p>
        </p:txBody>
      </p:sp>
      <p:sp>
        <p:nvSpPr>
          <p:cNvPr id="3" name="sub3"/>
          <p:cNvSpPr txBox="1"/>
          <p:nvPr/>
        </p:nvSpPr>
        <p:spPr>
          <a:xfrm>
            <a:off x="594360" y="126187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MB-REC-001 implemented exactly: four stages, ten locked rules, one deterministic answer.</a:t>
            </a:r>
            <a:endParaRPr lang="en-US" sz="1400" dirty="0"/>
          </a:p>
        </p:txBody>
      </p:sp>
      <p:sp>
        <p:nvSpPr>
          <p:cNvPr id="4" name="st0"/>
          <p:cNvSpPr/>
          <p:nvPr/>
        </p:nvSpPr>
        <p:spPr>
          <a:xfrm>
            <a:off x="594360" y="1792224"/>
            <a:ext cx="175564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8BD"/>
            </a:solidFill>
            <a:prstDash val="solid"/>
          </a:ln>
        </p:spPr>
      </p:sp>
      <p:sp>
        <p:nvSpPr>
          <p:cNvPr id="5" name="sth0"/>
          <p:cNvSpPr txBox="1"/>
          <p:nvPr/>
        </p:nvSpPr>
        <p:spPr>
          <a:xfrm>
            <a:off x="740664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Understand</a:t>
            </a:r>
            <a:endParaRPr lang="en-US" sz="1250" dirty="0"/>
          </a:p>
        </p:txBody>
      </p:sp>
      <p:sp>
        <p:nvSpPr>
          <p:cNvPr id="6" name="stb0"/>
          <p:cNvSpPr txBox="1"/>
          <p:nvPr/>
        </p:nvSpPr>
        <p:spPr>
          <a:xfrm>
            <a:off x="740664" y="2212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chemeClr val="accent5"/>
                </a:solidFill>
              </a:rPr>
              <a:t>Profile + daily context</a:t>
            </a:r>
            <a:endParaRPr lang="en-US" sz="950" dirty="0"/>
          </a:p>
        </p:txBody>
      </p:sp>
      <p:sp>
        <p:nvSpPr>
          <p:cNvPr id="7" name="ar0"/>
          <p:cNvSpPr txBox="1"/>
          <p:nvPr/>
        </p:nvSpPr>
        <p:spPr>
          <a:xfrm>
            <a:off x="2331720" y="21031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t1"/>
          <p:cNvSpPr/>
          <p:nvPr/>
        </p:nvSpPr>
        <p:spPr>
          <a:xfrm>
            <a:off x="2514600" y="1792224"/>
            <a:ext cx="175564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8BD"/>
            </a:solidFill>
            <a:prstDash val="solid"/>
          </a:ln>
        </p:spPr>
      </p:sp>
      <p:sp>
        <p:nvSpPr>
          <p:cNvPr id="9" name="sth1"/>
          <p:cNvSpPr txBox="1"/>
          <p:nvPr/>
        </p:nvSpPr>
        <p:spPr>
          <a:xfrm>
            <a:off x="2660904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Filter</a:t>
            </a:r>
            <a:endParaRPr lang="en-US" sz="1250" dirty="0"/>
          </a:p>
        </p:txBody>
      </p:sp>
      <p:sp>
        <p:nvSpPr>
          <p:cNvPr id="10" name="stb1"/>
          <p:cNvSpPr txBox="1"/>
          <p:nvPr/>
        </p:nvSpPr>
        <p:spPr>
          <a:xfrm>
            <a:off x="2660904" y="2212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chemeClr val="accent5"/>
                </a:solidFill>
              </a:rPr>
              <a:t>Safety, diet, approved substitution</a:t>
            </a:r>
            <a:endParaRPr lang="en-US" sz="950" dirty="0"/>
          </a:p>
        </p:txBody>
      </p:sp>
      <p:sp>
        <p:nvSpPr>
          <p:cNvPr id="11" name="ar1"/>
          <p:cNvSpPr txBox="1"/>
          <p:nvPr/>
        </p:nvSpPr>
        <p:spPr>
          <a:xfrm>
            <a:off x="4251960" y="21031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t2"/>
          <p:cNvSpPr/>
          <p:nvPr/>
        </p:nvSpPr>
        <p:spPr>
          <a:xfrm>
            <a:off x="4434840" y="1792224"/>
            <a:ext cx="175564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8BD"/>
            </a:solidFill>
            <a:prstDash val="solid"/>
          </a:ln>
        </p:spPr>
      </p:sp>
      <p:sp>
        <p:nvSpPr>
          <p:cNvPr id="13" name="sth2"/>
          <p:cNvSpPr txBox="1"/>
          <p:nvPr/>
        </p:nvSpPr>
        <p:spPr>
          <a:xfrm>
            <a:off x="4581144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Match</a:t>
            </a:r>
            <a:endParaRPr lang="en-US" sz="1250" dirty="0"/>
          </a:p>
        </p:txBody>
      </p:sp>
      <p:sp>
        <p:nvSpPr>
          <p:cNvPr id="14" name="stb2"/>
          <p:cNvSpPr txBox="1"/>
          <p:nvPr/>
        </p:nvSpPr>
        <p:spPr>
          <a:xfrm>
            <a:off x="4581144" y="2212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chemeClr val="accent5"/>
                </a:solidFill>
              </a:rPr>
              <a:t>Eating style, context, preference pool</a:t>
            </a:r>
            <a:endParaRPr lang="en-US" sz="950" dirty="0"/>
          </a:p>
        </p:txBody>
      </p:sp>
      <p:sp>
        <p:nvSpPr>
          <p:cNvPr id="15" name="ar2"/>
          <p:cNvSpPr txBox="1"/>
          <p:nvPr/>
        </p:nvSpPr>
        <p:spPr>
          <a:xfrm>
            <a:off x="6172200" y="21031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t3"/>
          <p:cNvSpPr/>
          <p:nvPr/>
        </p:nvSpPr>
        <p:spPr>
          <a:xfrm>
            <a:off x="6355080" y="1792224"/>
            <a:ext cx="175564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D8BD"/>
            </a:solidFill>
            <a:prstDash val="solid"/>
          </a:ln>
        </p:spPr>
      </p:sp>
      <p:sp>
        <p:nvSpPr>
          <p:cNvPr id="17" name="sth3"/>
          <p:cNvSpPr txBox="1"/>
          <p:nvPr/>
        </p:nvSpPr>
        <p:spPr>
          <a:xfrm>
            <a:off x="6501384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Recommend</a:t>
            </a:r>
            <a:endParaRPr lang="en-US" sz="1250" dirty="0"/>
          </a:p>
        </p:txBody>
      </p:sp>
      <p:sp>
        <p:nvSpPr>
          <p:cNvPr id="18" name="stb3"/>
          <p:cNvSpPr txBox="1"/>
          <p:nvPr/>
        </p:nvSpPr>
        <p:spPr>
          <a:xfrm>
            <a:off x="6501384" y="2212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chemeClr val="accent5"/>
                </a:solidFill>
              </a:rPr>
              <a:t>Your Box + Another Option</a:t>
            </a:r>
            <a:endParaRPr lang="en-US" sz="950" dirty="0"/>
          </a:p>
        </p:txBody>
      </p:sp>
      <p:sp>
        <p:nvSpPr>
          <p:cNvPr id="19" name="rules"/>
          <p:cNvSpPr/>
          <p:nvPr/>
        </p:nvSpPr>
        <p:spPr>
          <a:xfrm>
            <a:off x="594360" y="2926080"/>
            <a:ext cx="7388352" cy="2816352"/>
          </a:xfrm>
          <a:prstGeom prst="roundRect">
            <a:avLst>
              <a:gd name="adj" fmla="val 3247"/>
            </a:avLst>
          </a:prstGeom>
          <a:solidFill>
            <a:srgbClr val="3B2D22"/>
          </a:solidFill>
          <a:ln/>
        </p:spPr>
      </p:sp>
      <p:sp>
        <p:nvSpPr>
          <p:cNvPr id="20" name="rh"/>
          <p:cNvSpPr txBox="1"/>
          <p:nvPr/>
        </p:nvSpPr>
        <p:spPr>
          <a:xfrm>
            <a:off x="896112" y="3127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THE RULES THAT MAKE IT DEFENSIBLE</a:t>
            </a:r>
            <a:endParaRPr lang="en-US" sz="1000" dirty="0"/>
          </a:p>
        </p:txBody>
      </p:sp>
      <p:sp>
        <p:nvSpPr>
          <p:cNvPr id="21" name="rt0"/>
          <p:cNvSpPr txBox="1"/>
          <p:nvPr/>
        </p:nvSpPr>
        <p:spPr>
          <a:xfrm>
            <a:off x="896112" y="3456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inputs → same recommendation</a:t>
            </a:r>
            <a:endParaRPr lang="en-US" sz="1100" dirty="0"/>
          </a:p>
        </p:txBody>
      </p:sp>
      <p:sp>
        <p:nvSpPr>
          <p:cNvPr id="22" name="rb0"/>
          <p:cNvSpPr txBox="1"/>
          <p:nvPr/>
        </p:nvSpPr>
        <p:spPr>
          <a:xfrm>
            <a:off x="4663440" y="346557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4B8A6"/>
                </a:solidFill>
              </a:rPr>
              <a:t>Deterministic and rule-based. No randomness, no unsupported AI claims.</a:t>
            </a:r>
            <a:endParaRPr lang="en-US" sz="950" dirty="0"/>
          </a:p>
        </p:txBody>
      </p:sp>
      <p:sp>
        <p:nvSpPr>
          <p:cNvPr id="23" name="rt1"/>
          <p:cNvSpPr txBox="1"/>
          <p:nvPr/>
        </p:nvSpPr>
        <p:spPr>
          <a:xfrm>
            <a:off x="896112" y="4005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substitution never leaves the approved library</a:t>
            </a:r>
            <a:endParaRPr lang="en-US" sz="1100" dirty="0"/>
          </a:p>
        </p:txBody>
      </p:sp>
      <p:sp>
        <p:nvSpPr>
          <p:cNvPr id="24" name="rb1"/>
          <p:cNvSpPr txBox="1"/>
          <p:nvPr/>
        </p:nvSpPr>
        <p:spPr>
          <a:xfrm>
            <a:off x="4663440" y="401421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4B8A6"/>
                </a:solidFill>
              </a:rPr>
              <a:t>If none exists, the breakfast leaves the pool. Safety is never relaxed.</a:t>
            </a:r>
            <a:endParaRPr lang="en-US" sz="950" dirty="0"/>
          </a:p>
        </p:txBody>
      </p:sp>
      <p:sp>
        <p:nvSpPr>
          <p:cNvPr id="25" name="rt2"/>
          <p:cNvSpPr txBox="1"/>
          <p:nvPr/>
        </p:nvSpPr>
        <p:spPr>
          <a:xfrm>
            <a:off x="896112" y="4553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Multiple preferences expand the pool</a:t>
            </a:r>
            <a:endParaRPr lang="en-US" sz="1100" dirty="0"/>
          </a:p>
        </p:txBody>
      </p:sp>
      <p:sp>
        <p:nvSpPr>
          <p:cNvPr id="26" name="rb2"/>
          <p:cNvSpPr txBox="1"/>
          <p:nvPr/>
        </p:nvSpPr>
        <p:spPr>
          <a:xfrm>
            <a:off x="4663440" y="456285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4B8A6"/>
                </a:solidFill>
              </a:rPr>
              <a:t>They are never combined into one hybrid breakfast.</a:t>
            </a:r>
            <a:endParaRPr lang="en-US" sz="950" dirty="0"/>
          </a:p>
        </p:txBody>
      </p:sp>
      <p:sp>
        <p:nvSpPr>
          <p:cNvPr id="27" name="rt3"/>
          <p:cNvSpPr txBox="1"/>
          <p:nvPr/>
        </p:nvSpPr>
        <p:spPr>
          <a:xfrm>
            <a:off x="896112" y="5102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eligible match beats a forced one</a:t>
            </a:r>
            <a:endParaRPr lang="en-US" sz="1100" dirty="0"/>
          </a:p>
        </p:txBody>
      </p:sp>
      <p:sp>
        <p:nvSpPr>
          <p:cNvPr id="28" name="rb3"/>
          <p:cNvSpPr txBox="1"/>
          <p:nvPr/>
        </p:nvSpPr>
        <p:spPr>
          <a:xfrm>
            <a:off x="4663440" y="5111496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4B8A6"/>
                </a:solidFill>
              </a:rPr>
              <a:t>The system returns nothing and offers to review your inputs.</a:t>
            </a:r>
            <a:endParaRPr lang="en-US" sz="950" dirty="0"/>
          </a:p>
        </p:txBody>
      </p:sp>
      <p:pic>
        <p:nvPicPr>
          <p:cNvPr id="29" name="shot-box2" descr="/private/tmp/claude-501/-Users-rahul-Downloads-likhi-project/ea0c8839-4a20-41b7-85fb-79fe571d1a4f/scratchpad/mbdeck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792224"/>
            <a:ext cx="1773936" cy="3840480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3B2D22">
                <a:alpha val="30000"/>
              </a:srgbClr>
            </a:outerShdw>
          </a:effectLst>
        </p:spPr>
      </p:pic>
      <p:pic>
        <p:nvPicPr>
          <p:cNvPr id="30" name="shot-ctx" descr="/private/tmp/claude-501/-Users-rahul-Downloads-likhi-project/ea0c8839-4a20-41b7-85fb-79fe571d1a4f/scratchpad/mbdeck/con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377440"/>
            <a:ext cx="1325880" cy="287121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3B2D22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087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4"/>
          <p:cNvSpPr txBox="1"/>
          <p:nvPr/>
        </p:nvSpPr>
        <p:spPr>
          <a:xfrm>
            <a:off x="594360" y="512064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works, and the one decision I need</a:t>
            </a:r>
            <a:endParaRPr lang="en-US" sz="3200" dirty="0"/>
          </a:p>
        </p:txBody>
      </p:sp>
      <p:sp>
        <p:nvSpPr>
          <p:cNvPr id="3" name="col0"/>
          <p:cNvSpPr/>
          <p:nvPr/>
        </p:nvSpPr>
        <p:spPr>
          <a:xfrm>
            <a:off x="594360" y="137160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53402F"/>
          </a:solidFill>
          <a:ln/>
        </p:spPr>
      </p:sp>
      <p:sp>
        <p:nvSpPr>
          <p:cNvPr id="4" name="ch0"/>
          <p:cNvSpPr txBox="1"/>
          <p:nvPr/>
        </p:nvSpPr>
        <p:spPr>
          <a:xfrm>
            <a:off x="868680" y="1572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99A12"/>
                </a:solidFill>
              </a:rPr>
              <a:t>WORKING TODAY</a:t>
            </a:r>
            <a:endParaRPr lang="en-US" sz="950" dirty="0"/>
          </a:p>
        </p:txBody>
      </p:sp>
      <p:sp>
        <p:nvSpPr>
          <p:cNvPr id="5" name="cb0"/>
          <p:cNvSpPr txBox="1"/>
          <p:nvPr/>
        </p:nvSpPr>
        <p:spPr>
          <a:xfrm>
            <a:off x="868680" y="190195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All ten flows, personal and business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The real MB-REC-001 engine over 32 recommendations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Allergen filtering with approved substitution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9 PM cutoff, refunds, proof of delivery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Proximity-first allocation with eligibility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Production vs packing views, QC gate, exceptions</a:t>
            </a:r>
            <a:endParaRPr lang="en-US" sz="1050" dirty="0"/>
          </a:p>
        </p:txBody>
      </p:sp>
      <p:sp>
        <p:nvSpPr>
          <p:cNvPr id="6" name="col1"/>
          <p:cNvSpPr/>
          <p:nvPr/>
        </p:nvSpPr>
        <p:spPr>
          <a:xfrm>
            <a:off x="4343400" y="137160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53402F"/>
          </a:solidFill>
          <a:ln/>
        </p:spPr>
      </p:sp>
      <p:sp>
        <p:nvSpPr>
          <p:cNvPr id="7" name="ch1"/>
          <p:cNvSpPr txBox="1"/>
          <p:nvPr/>
        </p:nvSpPr>
        <p:spPr>
          <a:xfrm>
            <a:off x="4617720" y="1572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99A12"/>
                </a:solidFill>
              </a:rPr>
              <a:t>NEXT, IN ORDER</a:t>
            </a:r>
            <a:endParaRPr lang="en-US" sz="950" dirty="0"/>
          </a:p>
        </p:txBody>
      </p:sp>
      <p:sp>
        <p:nvSpPr>
          <p:cNvPr id="8" name="cb1"/>
          <p:cNvSpPr txBox="1"/>
          <p:nvPr/>
        </p:nvSpPr>
        <p:spPr>
          <a:xfrm>
            <a:off x="4617720" y="190195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Resolve the dietary gap on the right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Schema and per-bakery allergen records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Engine as a service, with fixtures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Mobile + OTP, payments, refunds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Bakery view and courier integration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ACB"/>
                </a:solidFill>
              </a:rPr>
              <a:t>Closed DIFC pilot</a:t>
            </a:r>
            <a:endParaRPr lang="en-US" sz="1050" dirty="0"/>
          </a:p>
        </p:txBody>
      </p:sp>
      <p:sp>
        <p:nvSpPr>
          <p:cNvPr id="9" name="finding"/>
          <p:cNvSpPr/>
          <p:nvPr/>
        </p:nvSpPr>
        <p:spPr>
          <a:xfrm>
            <a:off x="8092440" y="137160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D99A12"/>
          </a:solidFill>
          <a:ln/>
        </p:spPr>
      </p:sp>
      <p:sp>
        <p:nvSpPr>
          <p:cNvPr id="10" name="fh"/>
          <p:cNvSpPr txBox="1"/>
          <p:nvPr/>
        </p:nvSpPr>
        <p:spPr>
          <a:xfrm>
            <a:off x="8366760" y="1572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B2D22"/>
                </a:solidFill>
              </a:rPr>
              <a:t>THE DECISION I NEED</a:t>
            </a:r>
            <a:endParaRPr lang="en-US" sz="950" dirty="0"/>
          </a:p>
        </p:txBody>
      </p:sp>
      <p:sp>
        <p:nvSpPr>
          <p:cNvPr id="11" name="fv"/>
          <p:cNvSpPr txBox="1"/>
          <p:nvPr/>
        </p:nvSpPr>
        <p:spPr>
          <a:xfrm>
            <a:off x="8366760" y="18653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32</a:t>
            </a:r>
            <a:endParaRPr lang="en-US" sz="3400" dirty="0"/>
          </a:p>
        </p:txBody>
      </p:sp>
      <p:sp>
        <p:nvSpPr>
          <p:cNvPr id="12" name="fb"/>
          <p:cNvSpPr txBox="1"/>
          <p:nvPr/>
        </p:nvSpPr>
        <p:spPr>
          <a:xfrm>
            <a:off x="8366760" y="245059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2D22"/>
                </a:solidFill>
              </a:rPr>
              <a:t>approved breakfasts can be served to a gluten-free or coeliac customer.</a:t>
            </a:r>
            <a:endParaRPr lang="en-US" sz="1100" dirty="0"/>
          </a:p>
        </p:txBody>
      </p:sp>
      <p:sp>
        <p:nvSpPr>
          <p:cNvPr id="13" name="fb2"/>
          <p:cNvSpPr txBox="1"/>
          <p:nvPr/>
        </p:nvSpPr>
        <p:spPr>
          <a:xfrm>
            <a:off x="8366760" y="301752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3402F"/>
                </a:solidFill>
              </a:rPr>
              <a:t>MB-BOX-001 §9 names Gluten-Free as supported. The Core Library has no gluten-free bread or grain. Add products, or remove the option?</a:t>
            </a:r>
            <a:endParaRPr lang="en-US" sz="980" dirty="0"/>
          </a:p>
        </p:txBody>
      </p:sp>
      <p:sp>
        <p:nvSpPr>
          <p:cNvPr id="14" name="cov"/>
          <p:cNvSpPr/>
          <p:nvPr/>
        </p:nvSpPr>
        <p:spPr>
          <a:xfrm>
            <a:off x="594360" y="4224528"/>
            <a:ext cx="10972800" cy="1481328"/>
          </a:xfrm>
          <a:prstGeom prst="roundRect">
            <a:avLst>
              <a:gd name="adj" fmla="val 6173"/>
            </a:avLst>
          </a:prstGeom>
          <a:solidFill>
            <a:srgbClr val="2A2017"/>
          </a:solidFill>
          <a:ln/>
        </p:spPr>
      </p:sp>
      <p:sp>
        <p:nvSpPr>
          <p:cNvPr id="15" name="covh"/>
          <p:cNvSpPr txBox="1"/>
          <p:nvPr/>
        </p:nvSpPr>
        <p:spPr>
          <a:xfrm>
            <a:off x="914400" y="44074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Dietary coverage across all 32 approved Base Recommendations</a:t>
            </a:r>
            <a:endParaRPr lang="en-US" sz="1250" dirty="0"/>
          </a:p>
        </p:txBody>
      </p:sp>
      <p:sp>
        <p:nvSpPr>
          <p:cNvPr id="16" name="bg0"/>
          <p:cNvSpPr/>
          <p:nvPr/>
        </p:nvSpPr>
        <p:spPr>
          <a:xfrm>
            <a:off x="91440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17" name="bar0"/>
          <p:cNvSpPr/>
          <p:nvPr/>
        </p:nvSpPr>
        <p:spPr>
          <a:xfrm>
            <a:off x="914400" y="5138928"/>
            <a:ext cx="914400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18" name="bv0"/>
          <p:cNvSpPr txBox="1"/>
          <p:nvPr/>
        </p:nvSpPr>
        <p:spPr>
          <a:xfrm>
            <a:off x="91440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32</a:t>
            </a:r>
            <a:endParaRPr lang="en-US" sz="1300" dirty="0"/>
          </a:p>
        </p:txBody>
      </p:sp>
      <p:sp>
        <p:nvSpPr>
          <p:cNvPr id="19" name="bl0"/>
          <p:cNvSpPr txBox="1"/>
          <p:nvPr/>
        </p:nvSpPr>
        <p:spPr>
          <a:xfrm>
            <a:off x="91440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None</a:t>
            </a:r>
            <a:endParaRPr lang="en-US" sz="860" dirty="0"/>
          </a:p>
        </p:txBody>
      </p:sp>
      <p:sp>
        <p:nvSpPr>
          <p:cNvPr id="20" name="bg1"/>
          <p:cNvSpPr/>
          <p:nvPr/>
        </p:nvSpPr>
        <p:spPr>
          <a:xfrm>
            <a:off x="210312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21" name="bar1"/>
          <p:cNvSpPr/>
          <p:nvPr/>
        </p:nvSpPr>
        <p:spPr>
          <a:xfrm>
            <a:off x="2103120" y="5138928"/>
            <a:ext cx="914400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22" name="bv1"/>
          <p:cNvSpPr txBox="1"/>
          <p:nvPr/>
        </p:nvSpPr>
        <p:spPr>
          <a:xfrm>
            <a:off x="210312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32</a:t>
            </a:r>
            <a:endParaRPr lang="en-US" sz="1300" dirty="0"/>
          </a:p>
        </p:txBody>
      </p:sp>
      <p:sp>
        <p:nvSpPr>
          <p:cNvPr id="23" name="bl1"/>
          <p:cNvSpPr txBox="1"/>
          <p:nvPr/>
        </p:nvSpPr>
        <p:spPr>
          <a:xfrm>
            <a:off x="210312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Peanut</a:t>
            </a:r>
            <a:endParaRPr lang="en-US" sz="860" dirty="0"/>
          </a:p>
        </p:txBody>
      </p:sp>
      <p:sp>
        <p:nvSpPr>
          <p:cNvPr id="24" name="bg2"/>
          <p:cNvSpPr/>
          <p:nvPr/>
        </p:nvSpPr>
        <p:spPr>
          <a:xfrm>
            <a:off x="329184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25" name="bar2"/>
          <p:cNvSpPr/>
          <p:nvPr/>
        </p:nvSpPr>
        <p:spPr>
          <a:xfrm>
            <a:off x="3291840" y="5138928"/>
            <a:ext cx="800100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26" name="bv2"/>
          <p:cNvSpPr txBox="1"/>
          <p:nvPr/>
        </p:nvSpPr>
        <p:spPr>
          <a:xfrm>
            <a:off x="329184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28</a:t>
            </a:r>
            <a:endParaRPr lang="en-US" sz="1300" dirty="0"/>
          </a:p>
        </p:txBody>
      </p:sp>
      <p:sp>
        <p:nvSpPr>
          <p:cNvPr id="27" name="bl2"/>
          <p:cNvSpPr txBox="1"/>
          <p:nvPr/>
        </p:nvSpPr>
        <p:spPr>
          <a:xfrm>
            <a:off x="329184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Vegetarian</a:t>
            </a:r>
            <a:endParaRPr lang="en-US" sz="860" dirty="0"/>
          </a:p>
        </p:txBody>
      </p:sp>
      <p:sp>
        <p:nvSpPr>
          <p:cNvPr id="28" name="bg3"/>
          <p:cNvSpPr/>
          <p:nvPr/>
        </p:nvSpPr>
        <p:spPr>
          <a:xfrm>
            <a:off x="448056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29" name="bar3"/>
          <p:cNvSpPr/>
          <p:nvPr/>
        </p:nvSpPr>
        <p:spPr>
          <a:xfrm>
            <a:off x="4480560" y="5138928"/>
            <a:ext cx="685800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30" name="bv3"/>
          <p:cNvSpPr txBox="1"/>
          <p:nvPr/>
        </p:nvSpPr>
        <p:spPr>
          <a:xfrm>
            <a:off x="448056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24</a:t>
            </a:r>
            <a:endParaRPr lang="en-US" sz="1300" dirty="0"/>
          </a:p>
        </p:txBody>
      </p:sp>
      <p:sp>
        <p:nvSpPr>
          <p:cNvPr id="31" name="bl3"/>
          <p:cNvSpPr txBox="1"/>
          <p:nvPr/>
        </p:nvSpPr>
        <p:spPr>
          <a:xfrm>
            <a:off x="448056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Tree nut</a:t>
            </a:r>
            <a:endParaRPr lang="en-US" sz="860" dirty="0"/>
          </a:p>
        </p:txBody>
      </p:sp>
      <p:sp>
        <p:nvSpPr>
          <p:cNvPr id="32" name="bg4"/>
          <p:cNvSpPr/>
          <p:nvPr/>
        </p:nvSpPr>
        <p:spPr>
          <a:xfrm>
            <a:off x="566928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33" name="bar4"/>
          <p:cNvSpPr/>
          <p:nvPr/>
        </p:nvSpPr>
        <p:spPr>
          <a:xfrm>
            <a:off x="5669280" y="5138928"/>
            <a:ext cx="628650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34" name="bv4"/>
          <p:cNvSpPr txBox="1"/>
          <p:nvPr/>
        </p:nvSpPr>
        <p:spPr>
          <a:xfrm>
            <a:off x="566928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22</a:t>
            </a:r>
            <a:endParaRPr lang="en-US" sz="1300" dirty="0"/>
          </a:p>
        </p:txBody>
      </p:sp>
      <p:sp>
        <p:nvSpPr>
          <p:cNvPr id="35" name="bl4"/>
          <p:cNvSpPr txBox="1"/>
          <p:nvPr/>
        </p:nvSpPr>
        <p:spPr>
          <a:xfrm>
            <a:off x="566928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Egg</a:t>
            </a:r>
            <a:endParaRPr lang="en-US" sz="860" dirty="0"/>
          </a:p>
        </p:txBody>
      </p:sp>
      <p:sp>
        <p:nvSpPr>
          <p:cNvPr id="36" name="bg5"/>
          <p:cNvSpPr/>
          <p:nvPr/>
        </p:nvSpPr>
        <p:spPr>
          <a:xfrm>
            <a:off x="685800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37" name="bar5"/>
          <p:cNvSpPr/>
          <p:nvPr/>
        </p:nvSpPr>
        <p:spPr>
          <a:xfrm>
            <a:off x="6858000" y="5138928"/>
            <a:ext cx="342900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38" name="bv5"/>
          <p:cNvSpPr txBox="1"/>
          <p:nvPr/>
        </p:nvSpPr>
        <p:spPr>
          <a:xfrm>
            <a:off x="685800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39" name="bl5"/>
          <p:cNvSpPr txBox="1"/>
          <p:nvPr/>
        </p:nvSpPr>
        <p:spPr>
          <a:xfrm>
            <a:off x="685800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Dairy</a:t>
            </a:r>
            <a:endParaRPr lang="en-US" sz="860" dirty="0"/>
          </a:p>
        </p:txBody>
      </p:sp>
      <p:sp>
        <p:nvSpPr>
          <p:cNvPr id="40" name="bg6"/>
          <p:cNvSpPr/>
          <p:nvPr/>
        </p:nvSpPr>
        <p:spPr>
          <a:xfrm>
            <a:off x="804672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41" name="bar6"/>
          <p:cNvSpPr/>
          <p:nvPr/>
        </p:nvSpPr>
        <p:spPr>
          <a:xfrm>
            <a:off x="8046720" y="5138928"/>
            <a:ext cx="257175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42" name="bv6"/>
          <p:cNvSpPr txBox="1"/>
          <p:nvPr/>
        </p:nvSpPr>
        <p:spPr>
          <a:xfrm>
            <a:off x="804672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43" name="bl6"/>
          <p:cNvSpPr txBox="1"/>
          <p:nvPr/>
        </p:nvSpPr>
        <p:spPr>
          <a:xfrm>
            <a:off x="804672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Dairy-free</a:t>
            </a:r>
            <a:endParaRPr lang="en-US" sz="860" dirty="0"/>
          </a:p>
        </p:txBody>
      </p:sp>
      <p:sp>
        <p:nvSpPr>
          <p:cNvPr id="44" name="bg7"/>
          <p:cNvSpPr/>
          <p:nvPr/>
        </p:nvSpPr>
        <p:spPr>
          <a:xfrm>
            <a:off x="923544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45" name="bar7"/>
          <p:cNvSpPr/>
          <p:nvPr/>
        </p:nvSpPr>
        <p:spPr>
          <a:xfrm>
            <a:off x="9235440" y="5138928"/>
            <a:ext cx="228600" cy="146304"/>
          </a:xfrm>
          <a:prstGeom prst="rect">
            <a:avLst/>
          </a:prstGeom>
          <a:solidFill>
            <a:srgbClr val="D99A12"/>
          </a:solidFill>
          <a:ln w="12700">
            <a:solidFill>
              <a:srgbClr val="D99A12"/>
            </a:solidFill>
            <a:prstDash val="solid"/>
          </a:ln>
        </p:spPr>
      </p:sp>
      <p:sp>
        <p:nvSpPr>
          <p:cNvPr id="46" name="bv7"/>
          <p:cNvSpPr txBox="1"/>
          <p:nvPr/>
        </p:nvSpPr>
        <p:spPr>
          <a:xfrm>
            <a:off x="923544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7" name="bl7"/>
          <p:cNvSpPr txBox="1"/>
          <p:nvPr/>
        </p:nvSpPr>
        <p:spPr>
          <a:xfrm>
            <a:off x="923544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Vegan</a:t>
            </a:r>
            <a:endParaRPr lang="en-US" sz="860" dirty="0"/>
          </a:p>
        </p:txBody>
      </p:sp>
      <p:sp>
        <p:nvSpPr>
          <p:cNvPr id="48" name="bg8"/>
          <p:cNvSpPr/>
          <p:nvPr/>
        </p:nvSpPr>
        <p:spPr>
          <a:xfrm>
            <a:off x="10424160" y="5138928"/>
            <a:ext cx="914400" cy="146304"/>
          </a:xfrm>
          <a:prstGeom prst="rect">
            <a:avLst/>
          </a:prstGeom>
          <a:solidFill>
            <a:srgbClr val="53402F"/>
          </a:solidFill>
          <a:ln w="12700">
            <a:solidFill>
              <a:srgbClr val="53402F"/>
            </a:solidFill>
            <a:prstDash val="solid"/>
          </a:ln>
        </p:spPr>
      </p:sp>
      <p:sp>
        <p:nvSpPr>
          <p:cNvPr id="49" name="bv8"/>
          <p:cNvSpPr txBox="1"/>
          <p:nvPr/>
        </p:nvSpPr>
        <p:spPr>
          <a:xfrm>
            <a:off x="10424160" y="4791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7A"/>
                </a:solidFill>
              </a:rPr>
              <a:t>0</a:t>
            </a:r>
            <a:endParaRPr lang="en-US" sz="1300" dirty="0"/>
          </a:p>
        </p:txBody>
      </p:sp>
      <p:sp>
        <p:nvSpPr>
          <p:cNvPr id="50" name="bl8"/>
          <p:cNvSpPr txBox="1"/>
          <p:nvPr/>
        </p:nvSpPr>
        <p:spPr>
          <a:xfrm>
            <a:off x="10424160" y="5321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5A997"/>
                </a:solidFill>
              </a:rPr>
              <a:t>Gluten-free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087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9D8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rning Box">
  <a:themeElements>
    <a:clrScheme name="Morning Box">
      <a:dk1>
        <a:srgbClr val="3B2D22"/>
      </a:dk1>
      <a:lt1>
        <a:srgbClr val="FFFFFF"/>
      </a:lt1>
      <a:dk2>
        <a:srgbClr val="2A2017"/>
      </a:dk2>
      <a:lt2>
        <a:srgbClr val="FBF7EF"/>
      </a:lt2>
      <a:accent1>
        <a:srgbClr val="D99A12"/>
      </a:accent1>
      <a:accent2>
        <a:srgbClr val="B98524"/>
      </a:accent2>
      <a:accent3>
        <a:srgbClr val="E9D8BD"/>
      </a:accent3>
      <a:accent4>
        <a:srgbClr val="4A7A4E"/>
      </a:accent4>
      <a:accent5>
        <a:srgbClr val="6B5B4A"/>
      </a:accent5>
      <a:accent6>
        <a:srgbClr val="9A3B2E"/>
      </a:accent6>
      <a:hlink>
        <a:srgbClr val="B98524"/>
      </a:hlink>
      <a:folHlink>
        <a:srgbClr val="6B5B4A"/>
      </a:folHlink>
    </a:clrScheme>
    <a:fontScheme name="Morning Bo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Morning Box MVP — build review</dc:title>
  <dc:subject>PptxGenJS Presentation</dc:subject>
  <dc:creator>Morning Box</dc:creator>
  <cp:lastModifiedBy>Morning Box</cp:lastModifiedBy>
  <cp:revision>1</cp:revision>
  <dcterms:created xsi:type="dcterms:W3CDTF">2026-10-05T03:31:41Z</dcterms:created>
  <dcterms:modified xsi:type="dcterms:W3CDTF">2026-10-05T03:31:41Z</dcterms:modified>
</cp:coreProperties>
</file>